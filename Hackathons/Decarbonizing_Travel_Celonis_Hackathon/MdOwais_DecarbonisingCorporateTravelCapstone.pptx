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nsariowais669@gmail.com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ansariowais669@gmail.com" TargetMode="Externa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031" y="2074515"/>
            <a:ext cx="3309937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4126110"/>
            <a:ext cx="904875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5365" y="2607915"/>
            <a:ext cx="1016127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sz="3150" b="1" i="0" u="none">
                <a:solidFill>
                  <a:srgbClr val="0F172A"/>
                </a:solidFill>
                <a:latin typeface="Poppins"/>
              </a:rPr>
              <a:t>Sustainability Capstone: Decarbonising Travel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3230760"/>
            <a:ext cx="8096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0284C7"/>
                </a:solidFill>
                <a:latin typeface="Lato"/>
              </a:rPr>
              <a:t>An Empirical Machine Learning Pipeline &amp; Process Mining Framework to Intercept and Mitigate High-Carbon Corporate Logistics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431" y="2165002"/>
            <a:ext cx="128587" cy="114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71625" y="4373760"/>
            <a:ext cx="2119312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Lato"/>
              </a:rPr>
              <a:t>LEAD PRESENTER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625" y="4535685"/>
            <a:ext cx="2119312" cy="182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n-IN" sz="1050" b="0" i="0" u="none" dirty="0">
                <a:solidFill>
                  <a:srgbClr val="1E293B"/>
                </a:solidFill>
                <a:latin typeface="Lato SemiBold"/>
              </a:rPr>
              <a:t>Mohammad Owais Ansari</a:t>
            </a:r>
            <a:endParaRPr sz="1050" b="0" i="0" u="none" dirty="0">
              <a:solidFill>
                <a:srgbClr val="1E293B"/>
              </a:solidFill>
              <a:latin typeface="Lato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81437" y="4373760"/>
            <a:ext cx="2119312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Lato"/>
              </a:rPr>
              <a:t>ACADEMIC INSTITUTION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1437" y="4535685"/>
            <a:ext cx="2119312" cy="387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n-IN" sz="1050" b="0" i="0" u="none" dirty="0">
                <a:solidFill>
                  <a:srgbClr val="1E293B"/>
                </a:solidFill>
                <a:latin typeface="Lato SemiBold"/>
              </a:rPr>
              <a:t>Indian Institute of Technology , Patna</a:t>
            </a:r>
            <a:endParaRPr sz="1050" b="0" i="0" u="none" dirty="0">
              <a:solidFill>
                <a:srgbClr val="1E293B"/>
              </a:solidFill>
              <a:latin typeface="Lato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91250" y="4373760"/>
            <a:ext cx="2119312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Lato"/>
              </a:rPr>
              <a:t>PROGRAM &amp; 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0" y="4535685"/>
            <a:ext cx="2119312" cy="387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n-IN" sz="1050" b="0" i="0" u="none" dirty="0">
                <a:solidFill>
                  <a:srgbClr val="1E293B"/>
                </a:solidFill>
                <a:latin typeface="Lato SemiBold"/>
              </a:rPr>
              <a:t>Bachelor of Technology ,</a:t>
            </a:r>
          </a:p>
          <a:p>
            <a:pPr algn="l">
              <a:lnSpc>
                <a:spcPts val="1575"/>
              </a:lnSpc>
            </a:pPr>
            <a:r>
              <a:rPr lang="en-IN" sz="1050" b="0" i="0" u="none" dirty="0">
                <a:solidFill>
                  <a:srgbClr val="1E293B"/>
                </a:solidFill>
                <a:latin typeface="Lato SemiBold"/>
              </a:rPr>
              <a:t> Engineering Physics</a:t>
            </a:r>
            <a:endParaRPr sz="1050" b="0" i="0" u="none" dirty="0">
              <a:solidFill>
                <a:srgbClr val="1E293B"/>
              </a:solidFill>
              <a:latin typeface="Lato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01062" y="4373760"/>
            <a:ext cx="2119312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Lato"/>
              </a:rPr>
              <a:t>TECHNICAL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1062" y="4535685"/>
            <a:ext cx="2119312" cy="387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n-IN" sz="1050" b="0" i="0" u="none" dirty="0">
                <a:solidFill>
                  <a:srgbClr val="1E293B"/>
                </a:solidFill>
                <a:latin typeface="Lato SemiBold"/>
                <a:hlinkClick r:id="rId5"/>
              </a:rPr>
              <a:t>ansariowais669@gmail.com</a:t>
            </a:r>
            <a:endParaRPr lang="en-IN" sz="1050" b="0" i="0" u="none" dirty="0">
              <a:solidFill>
                <a:srgbClr val="1E293B"/>
              </a:solidFill>
              <a:latin typeface="Lato SemiBold"/>
            </a:endParaRPr>
          </a:p>
          <a:p>
            <a:pPr algn="l">
              <a:lnSpc>
                <a:spcPts val="1575"/>
              </a:lnSpc>
            </a:pPr>
            <a:endParaRPr sz="1050" b="0" i="0" u="none" dirty="0">
              <a:solidFill>
                <a:srgbClr val="1E293B"/>
              </a:solidFill>
              <a:latin typeface="Lato Semi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28750" y="6000750"/>
            <a:ext cx="10763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Lat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315765"/>
            <a:ext cx="5191125" cy="25026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315765"/>
            <a:ext cx="5191125" cy="25026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625" y="4961334"/>
            <a:ext cx="1066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475569"/>
                </a:solidFill>
                <a:latin typeface="Lato"/>
              </a:rPr>
              <a:t>Project context, raw inputs, and workflow files validated across baseline capstone data logs.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4375" y="4961334"/>
            <a:ext cx="28575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9650" y="2611040"/>
            <a:ext cx="4830603" cy="2857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Poppins"/>
              </a:rPr>
              <a:t>Scope 3 Liability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3011090"/>
            <a:ext cx="460057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0" i="0" u="none">
                <a:solidFill>
                  <a:srgbClr val="475569"/>
                </a:solidFill>
                <a:latin typeface="Lato"/>
              </a:rPr>
              <a:t>Corporate logistics and business travel represent major carbon drivers for modern organizations. Celonis' own baseline travel database highlights a substantial operational footprint ripe for system-level mitigation.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50" y="3746896"/>
            <a:ext cx="460057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0" i="0" u="none">
                <a:solidFill>
                  <a:srgbClr val="475569"/>
                </a:solidFill>
                <a:latin typeface="Lato"/>
              </a:rPr>
              <a:t>By parsing corporate booking behavior, we build a strategic model that intercepts high-carbon journeys before confirmation, integrating intelligence directly into procurement pathways.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611040"/>
            <a:ext cx="4830603" cy="285750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284C7"/>
                </a:solidFill>
                <a:latin typeface="Poppins"/>
              </a:rPr>
              <a:t>Dual-Engine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011090"/>
            <a:ext cx="4600575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0" i="0" u="none">
                <a:solidFill>
                  <a:srgbClr val="475569"/>
                </a:solidFill>
                <a:latin typeface="Lato"/>
              </a:rPr>
              <a:t>This project deploys a dual-framework architecture: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2658665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658665"/>
            <a:ext cx="21907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67525" y="3380184"/>
            <a:ext cx="4314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Machine Learning Pipeline: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Classifies high-risk carbon choices pre-booking.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525" y="3951684"/>
            <a:ext cx="4314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Process Mining Engine: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Pinpoints conformance friction and structural latency in logistics systems.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418284"/>
            <a:ext cx="14287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989784"/>
            <a:ext cx="142875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7250" y="523875"/>
            <a:ext cx="111513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Core Capstone Objectives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4375" y="52387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28750" y="6000750"/>
            <a:ext cx="10763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Lat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319337"/>
            <a:ext cx="5191125" cy="2495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587" y="3105150"/>
            <a:ext cx="1600200" cy="9239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4375" y="4957762"/>
            <a:ext cx="28575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4375" y="2319337"/>
            <a:ext cx="545068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Target Variable: HighCarbon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2719387"/>
            <a:ext cx="51911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0" i="0" u="none">
                <a:solidFill>
                  <a:srgbClr val="475569"/>
                </a:solidFill>
                <a:latin typeface="Lato"/>
              </a:rPr>
              <a:t>The primary predictive objective of the pipeline is to classify whether a journey is structurally inefficient and high-carbon (exceeding strict intensity limits). Class balance analysis of the 65,289 training records reveals: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483768"/>
            <a:ext cx="49053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Normal Journeys (Class 0):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74.99% (48,963 total trips)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840956"/>
            <a:ext cx="49053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High-Carbon Journeys (Class 1):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25.01% (16,326 total trips)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198143"/>
            <a:ext cx="4905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Imbalance Factor: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Exact 3:1 ratio, requiring weighted cross-entropy parameters during model tuning.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521868"/>
            <a:ext cx="1428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879056"/>
            <a:ext cx="14287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4236243"/>
            <a:ext cx="104775" cy="14287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272587" y="3224212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272587" y="3757612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39287" y="3105150"/>
            <a:ext cx="1085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Lato"/>
              </a:rPr>
              <a:t>Normal Journeys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9287" y="3324225"/>
            <a:ext cx="1085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Lato"/>
              </a:rPr>
              <a:t>48,963 trips (74.99%)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9287" y="3638550"/>
            <a:ext cx="1333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Lato"/>
              </a:rPr>
              <a:t>High-Carbon Journeys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9287" y="3857625"/>
            <a:ext cx="13335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Lato"/>
              </a:rPr>
              <a:t>16,326 trips (25.01%)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50" y="523875"/>
            <a:ext cx="111513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Target Class Distribution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4375" y="52387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28750" y="6000750"/>
            <a:ext cx="10763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Lat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219200"/>
            <a:ext cx="10763250" cy="50673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4375" y="5067300"/>
            <a:ext cx="28575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50" y="523875"/>
            <a:ext cx="111513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Hotspot Analysis: Business Units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4375" y="52387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28750" y="6000750"/>
            <a:ext cx="10763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Lat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340768"/>
            <a:ext cx="3429000" cy="24526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340768"/>
            <a:ext cx="3429000" cy="24526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625" y="2340768"/>
            <a:ext cx="3429000" cy="24526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4375" y="4936331"/>
            <a:ext cx="28575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0600" y="3102768"/>
            <a:ext cx="302037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Customer Visits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455193"/>
            <a:ext cx="28765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10B981"/>
                </a:solidFill>
                <a:latin typeface="Lato"/>
              </a:rPr>
              <a:t>28,229 Journeys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745706"/>
            <a:ext cx="28765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Lato"/>
              </a:rPr>
              <a:t>Representing the single largest operational hotspot. Travel routes are highly recurring and present the highest statistical potential for rail-first migration policies.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102768"/>
            <a:ext cx="302037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Partner Relations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455193"/>
            <a:ext cx="28765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284C7"/>
                </a:solidFill>
                <a:latin typeface="Lato"/>
              </a:rPr>
              <a:t>15,412 Journeys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745706"/>
            <a:ext cx="2876550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Lato"/>
              </a:rPr>
              <a:t>Secondary volume driver. Often correlated with short-notice booking delays, generating expensive, high-carbon express aviation routes.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4850" y="3102768"/>
            <a:ext cx="302037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Internal Meetings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4850" y="3455193"/>
            <a:ext cx="28765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F172A"/>
                </a:solidFill>
                <a:latin typeface="Lato"/>
              </a:rPr>
              <a:t>9,114 Journeys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4850" y="3745706"/>
            <a:ext cx="2876550" cy="578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Lato"/>
              </a:rPr>
              <a:t>High-carbon density without direct external revenue justification. Target category for strict virtual-first restriction policies.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693193"/>
            <a:ext cx="31432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7725" y="2693193"/>
            <a:ext cx="3143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4850" y="2693193"/>
            <a:ext cx="190500" cy="247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7250" y="523875"/>
            <a:ext cx="111513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Hotspot Analysis: Travel Purposes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4375" y="52387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28750" y="6000750"/>
            <a:ext cx="10763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Lat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340768"/>
            <a:ext cx="3429000" cy="24526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340768"/>
            <a:ext cx="3429000" cy="24526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625" y="2340768"/>
            <a:ext cx="3429000" cy="24526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4375" y="4936331"/>
            <a:ext cx="28575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0600" y="3102768"/>
            <a:ext cx="302037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Approval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455193"/>
            <a:ext cx="28765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284C7"/>
                </a:solidFill>
                <a:latin typeface="Lato"/>
              </a:rPr>
              <a:t>6.4 Days Delay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745706"/>
            <a:ext cx="28765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Lato"/>
              </a:rPr>
              <a:t>Reconstructed logs from 671,547 event steps show request-to-approval latency depletes low-cost, low-carbon rail seats, forcing last-minute flight bookings.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102768"/>
            <a:ext cx="302037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Process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455193"/>
            <a:ext cx="28765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0284C7"/>
                </a:solidFill>
                <a:latin typeface="Lato"/>
              </a:rPr>
              <a:t>Aviation Preference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745706"/>
            <a:ext cx="28765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Lato"/>
              </a:rPr>
              <a:t>High-carbon flight segments are consistently booked on regional corridors (such as Munich-Berlin) despite active, identical high-speed rail corridors.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4850" y="3102768"/>
            <a:ext cx="302037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oppins"/>
              </a:rPr>
              <a:t>Policy Conformance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4850" y="3455193"/>
            <a:ext cx="28765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10B981"/>
                </a:solidFill>
                <a:latin typeface="Lato"/>
              </a:rPr>
              <a:t>OutOfPolicy Outliers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4850" y="3745706"/>
            <a:ext cx="28765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Lato"/>
              </a:rPr>
              <a:t>Only 53,284 trips follow compliant channels. Severe process leakage (12,005 non-compliant trips) accounts for highly concentrated carbon intensity.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693193"/>
            <a:ext cx="19050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7725" y="2693193"/>
            <a:ext cx="24765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4850" y="2693193"/>
            <a:ext cx="247650" cy="247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7250" y="523875"/>
            <a:ext cx="111513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Process Mining Bottleneck Logs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4375" y="52387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28750" y="6000750"/>
            <a:ext cx="10763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Lat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962150"/>
            <a:ext cx="10763250" cy="32099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14375" y="5314950"/>
            <a:ext cx="28575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3900" y="1971675"/>
          <a:ext cx="10744198" cy="3190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ato SemiBold"/>
                        </a:rPr>
                        <a:t>Data Feature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ato SemiBold"/>
                        </a:rPr>
                        <a:t>Variable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ato SemiBold"/>
                        </a:rPr>
                        <a:t>Treatment in Pipeline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FFFFFF"/>
                          </a:solidFill>
                          <a:latin typeface="Lato SemiBold"/>
                        </a:rPr>
                        <a:t>Action &amp; Mitigating Rationale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Lato"/>
                        </a:rPr>
                        <a:t>Departure_CO2e / Return_CO2e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Lato"/>
                        </a:rPr>
                        <a:t>Numeric (Leakage)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EF4444"/>
                          </a:solidFill>
                          <a:latin typeface="Lato"/>
                        </a:rPr>
                        <a:t>EXCLUDED FROM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Lato"/>
                        </a:rPr>
                        <a:t>Direct mathematical proxies of target variable. Triggers absolute target leakage.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Lato"/>
                        </a:rPr>
                        <a:t>Hotel_CO2e / Spend_CO2e / TotalCO2e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Lato"/>
                        </a:rPr>
                        <a:t>Numeric (Leakage)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EF4444"/>
                          </a:solidFill>
                          <a:latin typeface="Lato"/>
                        </a:rPr>
                        <a:t>EXCLUDED FROM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Lato"/>
                        </a:rPr>
                        <a:t>Calculations are performed post-journey. Not available at pre-booking request phase.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Lato"/>
                        </a:rPr>
                        <a:t>NetCosts / HotelNights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Lato"/>
                        </a:rPr>
                        <a:t>Numeric (Valid)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0B981"/>
                          </a:solidFill>
                          <a:latin typeface="Lato"/>
                        </a:rPr>
                        <a:t>RETAINED &amp; IMPUTED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Lato"/>
                        </a:rPr>
                        <a:t>Pre-booking quote estimates. Imputed missing values (NetCosts mean: 2,151.65).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Lato"/>
                        </a:rPr>
                        <a:t>Purpose / BusinessUnit / OutOfPolicy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Lato"/>
                        </a:rPr>
                        <a:t>Categorical (Valid)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0B981"/>
                          </a:solidFill>
                          <a:latin typeface="Lato"/>
                        </a:rPr>
                        <a:t>ENCODED &amp; RETAINED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Lato"/>
                        </a:rPr>
                        <a:t>Captured at point-of-request. Crucial behavioral signals indicating carbon density.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23900" y="2424112"/>
            <a:ext cx="2538263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62163" y="2424112"/>
            <a:ext cx="1398389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60552" y="2424112"/>
            <a:ext cx="1854100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14653" y="2424112"/>
            <a:ext cx="4953446" cy="285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3900" y="3128962"/>
            <a:ext cx="253826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62163" y="3128962"/>
            <a:ext cx="139838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0552" y="3128962"/>
            <a:ext cx="18541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14653" y="3128962"/>
            <a:ext cx="495344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3900" y="3805237"/>
            <a:ext cx="253826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62163" y="3805237"/>
            <a:ext cx="139838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60552" y="3805237"/>
            <a:ext cx="18541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14653" y="3805237"/>
            <a:ext cx="495344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3900" y="4481512"/>
            <a:ext cx="253826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62163" y="4481512"/>
            <a:ext cx="139838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60552" y="4481512"/>
            <a:ext cx="18541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14653" y="4481512"/>
            <a:ext cx="495344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7250" y="523875"/>
            <a:ext cx="111513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Pipeline Leakage Sanitization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4375" y="52387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28750" y="6000750"/>
            <a:ext cx="10763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Lat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480369"/>
            <a:ext cx="5191125" cy="21734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616225"/>
            <a:ext cx="5191125" cy="4851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4375" y="4796730"/>
            <a:ext cx="28575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4375" y="2480369"/>
            <a:ext cx="545068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Class Balancing Equation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2880419"/>
            <a:ext cx="51911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0" i="0" u="none">
                <a:solidFill>
                  <a:srgbClr val="475569"/>
                </a:solidFill>
                <a:latin typeface="Lato"/>
              </a:rPr>
              <a:t>To resolve the 3:1 class imbalance (25.01% High-Carbon vs 74.99% Normal), we apply inverse frequency scaling. This penalizes the objective function heavily for misclassifying minority carbon hotspots: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728019"/>
            <a:ext cx="493061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oppins"/>
              </a:rPr>
              <a:t>MATHEMATICAL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042344"/>
            <a:ext cx="4695825" cy="192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475569"/>
                </a:solidFill>
                <a:latin typeface="Lato"/>
              </a:rPr>
              <a:t>N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 = Total dataset training records </a:t>
            </a:r>
            <a:r>
              <a:rPr sz="1012" b="1" i="0" u="none">
                <a:solidFill>
                  <a:srgbClr val="0284C7"/>
                </a:solidFill>
                <a:latin typeface="Lato"/>
              </a:rPr>
              <a:t>(65,289)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311425"/>
            <a:ext cx="4695825" cy="192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475569"/>
                </a:solidFill>
                <a:latin typeface="Lato"/>
              </a:rPr>
              <a:t>C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 = Unique target class dimensions </a:t>
            </a:r>
            <a:r>
              <a:rPr sz="1012" b="1" i="0" u="none">
                <a:solidFill>
                  <a:srgbClr val="0284C7"/>
                </a:solidFill>
                <a:latin typeface="Lato"/>
              </a:rPr>
              <a:t>(2)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3580507"/>
            <a:ext cx="4695825" cy="224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475569"/>
                </a:solidFill>
                <a:latin typeface="Lato"/>
              </a:rPr>
              <a:t>nc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 = Training records mapped within class </a:t>
            </a:r>
            <a:r>
              <a:rPr sz="1012" b="0" i="1" u="none">
                <a:solidFill>
                  <a:srgbClr val="475569"/>
                </a:solidFill>
                <a:latin typeface="Lato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3881139"/>
            <a:ext cx="4695825" cy="224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475569"/>
                </a:solidFill>
                <a:latin typeface="Lato"/>
              </a:rPr>
              <a:t>w0 (Normal)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 = Inverse frequency weight of </a:t>
            </a:r>
            <a:r>
              <a:rPr sz="1012" b="1" i="0" u="none">
                <a:solidFill>
                  <a:srgbClr val="0284C7"/>
                </a:solidFill>
                <a:latin typeface="Lato"/>
              </a:rPr>
              <a:t>0.67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4181772"/>
            <a:ext cx="4695825" cy="224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475569"/>
                </a:solidFill>
                <a:latin typeface="Lato"/>
              </a:rPr>
              <a:t>w1 (High-Carbon)</a:t>
            </a:r>
            <a:r>
              <a:rPr sz="1012" b="0" i="0" u="none">
                <a:solidFill>
                  <a:srgbClr val="475569"/>
                </a:solidFill>
                <a:latin typeface="Lato"/>
              </a:rPr>
              <a:t> = High priority minority weight of </a:t>
            </a:r>
            <a:r>
              <a:rPr sz="1012" b="1" i="0" u="none">
                <a:solidFill>
                  <a:srgbClr val="10B981"/>
                </a:solidFill>
                <a:latin typeface="Lato"/>
              </a:rPr>
              <a:t>2.00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920" y="3768625"/>
            <a:ext cx="656034" cy="1803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7250" y="523875"/>
            <a:ext cx="111513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ML Classifier Mathematical Tuning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4375" y="52387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28750" y="6000750"/>
            <a:ext cx="10763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Lat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4375" y="4895850"/>
            <a:ext cx="28575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0125" y="2381250"/>
            <a:ext cx="10477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Mandatory regional rail-first rules: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Implement a strict geographic ban on flights where direct rail alternatives are active and travel time is under 4 hours. This addresses the core inefficiency identified in Munich-Berlin and Frankfurt-Paris corridors.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2981325"/>
            <a:ext cx="10477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Virtual-by-default for internal trips: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Apply strict travel restrictions to the internal meeting hotspot (9,114 trips), requiring executive level approval before any travel booking can be authorized.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581400"/>
            <a:ext cx="10477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Early booking approval triggers: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Set automated SLA rules in procurement systems. Requests must be submitted at least 14 days before departure to eliminate late-booking pricing spikes and optimize seat allocation.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181475"/>
            <a:ext cx="10477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Lato"/>
              </a:rPr>
              <a:t>Proactive carbon risk interception:</a:t>
            </a:r>
            <a:r>
              <a:rPr sz="1125" b="0" i="0" u="none">
                <a:solidFill>
                  <a:srgbClr val="475569"/>
                </a:solidFill>
                <a:latin typeface="Lato"/>
              </a:rPr>
              <a:t> Deploy the predictive classifier directly inside the booking portal, intercepting bookings classified as "HighCarbon" and offering alternative, low-carbon routes.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419350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019425"/>
            <a:ext cx="1619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619500"/>
            <a:ext cx="12382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7250" y="523875"/>
            <a:ext cx="111513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Low-Carbon Strategic Rules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4375" y="52387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28750" y="6000750"/>
            <a:ext cx="10763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Lat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37" y="3274665"/>
            <a:ext cx="6996112" cy="38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9625" y="4478535"/>
            <a:ext cx="1066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1" u="none">
                <a:solidFill>
                  <a:srgbClr val="475569"/>
                </a:solidFill>
                <a:latin typeface="Lato"/>
              </a:rPr>
              <a:t>Integration architecture connects historical data prep pipelines directly with live Celonis Process Mining workflows.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4375" y="4478535"/>
            <a:ext cx="28575" cy="2286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4375" y="2941290"/>
            <a:ext cx="236785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0B981"/>
                </a:solidFill>
                <a:latin typeface="Lato"/>
              </a:rPr>
              <a:t>PHASE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3052" y="329371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178" y="3598515"/>
            <a:ext cx="248624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Data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3855690"/>
            <a:ext cx="2367855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Lato"/>
              </a:rPr>
              <a:t>Standardize 65,289 historical records and resolve target leakage features prior to model ingestion.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2790" y="2941290"/>
            <a:ext cx="236785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0B981"/>
                </a:solidFill>
                <a:latin typeface="Lato"/>
              </a:rPr>
              <a:t>PHASE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01467" y="329371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3593" y="3598515"/>
            <a:ext cx="248624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Real-time Hooking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790" y="3855690"/>
            <a:ext cx="2367855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Lato"/>
              </a:rPr>
              <a:t>Deploy the balanced classifier into booking portals to score active requests before transaction confirmation.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1205" y="2941290"/>
            <a:ext cx="236785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0B981"/>
                </a:solidFill>
                <a:latin typeface="Lato"/>
              </a:rPr>
              <a:t>PHASE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99883" y="329371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52009" y="3598515"/>
            <a:ext cx="248624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Process Mining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1205" y="3855690"/>
            <a:ext cx="2367855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Lato"/>
              </a:rPr>
              <a:t>Inject risk predictions back into Celonis, mapping out real-time process mining compliance dashboards.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9620" y="2941290"/>
            <a:ext cx="236785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 u="none">
                <a:solidFill>
                  <a:srgbClr val="10B981"/>
                </a:solidFill>
                <a:latin typeface="Lato"/>
              </a:rPr>
              <a:t>PHASE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8298" y="329371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0424" y="3598515"/>
            <a:ext cx="2486248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Poppins"/>
              </a:rPr>
              <a:t>Continuous Interception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9620" y="3855690"/>
            <a:ext cx="2367855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Lato"/>
              </a:rPr>
              <a:t>Conduct monthly drift monitoring on the test set of 21,764 records to dynamically capture carbon profile shifts.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50" y="523875"/>
            <a:ext cx="1115139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oppins"/>
              </a:rPr>
              <a:t>Strategic Integration Roadmap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4375" y="52387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28750" y="6000750"/>
            <a:ext cx="10763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Lato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52537" y="3274665"/>
            <a:ext cx="9686925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018" y="1897856"/>
            <a:ext cx="2747962" cy="295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5" y="4288631"/>
            <a:ext cx="8096250" cy="623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5293" y="2431256"/>
            <a:ext cx="11301412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oppins"/>
              </a:rPr>
              <a:t>Collaborative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317081"/>
            <a:ext cx="7620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Lato"/>
              </a:rPr>
              <a:t>Integrating machine learning predictions with process mining creates a proactive carbon mitigation tool. Real-time inference on flight requests allows organizations to identify and correct process leakage before high-carbon travel patterns occur.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4418" y="1988343"/>
            <a:ext cx="157162" cy="114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47875" y="4536281"/>
            <a:ext cx="188118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94A3B8"/>
                </a:solidFill>
                <a:latin typeface="Lato"/>
              </a:rPr>
              <a:t>LEAD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7875" y="4698206"/>
            <a:ext cx="1881187" cy="194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IN" sz="1125" b="0" i="0" u="none" dirty="0">
                <a:solidFill>
                  <a:srgbClr val="1E293B"/>
                </a:solidFill>
                <a:latin typeface="Lato SemiBold"/>
              </a:rPr>
              <a:t>Mohammad Owais Ansari</a:t>
            </a:r>
            <a:endParaRPr sz="1125" b="0" i="0" u="none" dirty="0">
              <a:solidFill>
                <a:srgbClr val="1E293B"/>
              </a:solidFill>
              <a:latin typeface="Lato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9562" y="4536281"/>
            <a:ext cx="188118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94A3B8"/>
                </a:solidFill>
                <a:latin typeface="Lato"/>
              </a:rPr>
              <a:t>ACADEMIC 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9562" y="4698206"/>
            <a:ext cx="1881187" cy="194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IN" sz="1125" b="0" i="0" u="none" dirty="0">
                <a:solidFill>
                  <a:srgbClr val="1E293B"/>
                </a:solidFill>
                <a:latin typeface="Lato SemiBold"/>
              </a:rPr>
              <a:t>Engineering Physics</a:t>
            </a:r>
            <a:endParaRPr sz="1125" b="0" i="0" u="none" dirty="0">
              <a:solidFill>
                <a:srgbClr val="1E293B"/>
              </a:solidFill>
              <a:latin typeface="Lato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91250" y="4536281"/>
            <a:ext cx="188118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94A3B8"/>
                </a:solidFill>
                <a:latin typeface="Lato"/>
              </a:rPr>
              <a:t>CAPSTONE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1250" y="4698206"/>
            <a:ext cx="1881187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1E293B"/>
                </a:solidFill>
                <a:latin typeface="Lato SemiBold"/>
              </a:rPr>
              <a:t>Celonis Sustainability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2937" y="4536281"/>
            <a:ext cx="1881187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94A3B8"/>
                </a:solidFill>
                <a:latin typeface="Lato"/>
              </a:rPr>
              <a:t>OFFICIAL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2937" y="4698206"/>
            <a:ext cx="1881187" cy="4122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IN" sz="1125" dirty="0">
                <a:solidFill>
                  <a:srgbClr val="1E293B"/>
                </a:solidFill>
                <a:latin typeface="Lato SemiBold"/>
                <a:hlinkClick r:id="rId5"/>
              </a:rPr>
              <a:t>ansariowais669@gmail.com</a:t>
            </a:r>
            <a:endParaRPr lang="en-IN" sz="1125" dirty="0">
              <a:solidFill>
                <a:srgbClr val="1E293B"/>
              </a:solidFill>
              <a:latin typeface="Lato SemiBold"/>
            </a:endParaRPr>
          </a:p>
          <a:p>
            <a:pPr algn="ctr">
              <a:lnSpc>
                <a:spcPts val="1687"/>
              </a:lnSpc>
            </a:pPr>
            <a:endParaRPr sz="1125" b="0" i="0" u="none" dirty="0">
              <a:solidFill>
                <a:srgbClr val="1E293B"/>
              </a:solidFill>
              <a:latin typeface="Lato Semi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28750" y="6000750"/>
            <a:ext cx="10763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Lat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921</Words>
  <Application>Microsoft Office PowerPoint</Application>
  <PresentationFormat>Widescreen</PresentationFormat>
  <Paragraphs>121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Lato</vt:lpstr>
      <vt:lpstr>Lato SemiBold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Mohammad Owais Ansari</cp:lastModifiedBy>
  <cp:revision>2</cp:revision>
  <dcterms:created xsi:type="dcterms:W3CDTF">2013-01-27T09:14:16Z</dcterms:created>
  <dcterms:modified xsi:type="dcterms:W3CDTF">2026-07-18T18:21:00Z</dcterms:modified>
  <cp:category/>
</cp:coreProperties>
</file>